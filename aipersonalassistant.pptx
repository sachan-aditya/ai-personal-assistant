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0:49:36.69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22 24575,'0'-3'0,"0"-6"0,0 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0:49:45.10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396 131 24575,'-1'2'0,"-1"1"0,0-1 0,1 0 0,-1 0 0,0 0 0,0-1 0,0 1 0,0 0 0,0-1 0,-1 1 0,1-1 0,-1 0 0,1 0 0,-3 1 0,-4 3 0,-20 15 0,2 0 0,0 2 0,-37 38 0,-64 86 0,100-113 0,21-26 0,3-9 0,6-17 0,10-27 0,4 3 0,2 0 0,2 1 0,2 1 0,35-50 0,-54 86 0,1 0 0,-1 1 0,1 0 0,0 0 0,0 0 0,0 0 0,1 1 0,8-6 0,-12 9 0,0-1 0,0 1 0,0-1 0,0 1 0,0 0 0,0-1 0,0 1 0,0 0 0,0 0 0,0 0 0,0 0 0,0 0 0,0 0 0,0 0 0,0 0 0,1 0 0,-1 0 0,0 1 0,0-1 0,1 1 0,-1 0 0,0 0 0,1 0 0,-1 0 0,0 0 0,0 0 0,0 1 0,0-1 0,0 0 0,-1 1 0,1-1 0,0 1 0,-1-1 0,1 1 0,0-1 0,-1 1 0,0 0 0,1 2 0,0 40 0,-2-39 0,1 0 0,0 0 0,-1 0 0,2-1 0,-1 1 0,0 0 0,1 0 0,0 0 0,0 0 0,1 0 0,-1-1 0,1 1 0,3 6 0,-5-11 0,1 1 0,-1-1 0,0 0 0,0 1 0,0-1 0,1 1 0,-1-1 0,0 0 0,1 1 0,-1-1 0,0 0 0,0 0 0,1 1 0,-1-1 0,1 0 0,-1 0 0,0 0 0,1 1 0,-1-1 0,0 0 0,1 0 0,-1 0 0,1 0 0,-1 0 0,1 0 0,-1 0 0,0 0 0,1 0 0,-1 0 0,1 0 0,-1 0 0,0 0 0,1 0 0,-1 0 0,1 0 0,-1 0 0,1 0 0,-1-1 0,0 1 0,1 0 0,-1 0 0,0-1 0,1 1 0,-1 0 0,0 0 0,1-1 0,-1 1 0,0 0 0,0-1 0,1 1 0,-1 0 0,0-1 0,0 1 0,0 0 0,1-1 0,-1 1 0,0-1 0,0 1 0,0-1 0,0 1 0,0 0 0,0-1 0,0 1 0,0-1 0,0 0 0,1-2 0,-1 0 0,1 0 0,-1 0 0,0 0 0,0 0 0,0 0 0,0 0 0,-1-3 0,1 5 0,0 0 0,0 0 0,-1-1 0,1 1 0,0 0 0,-1 0 0,1 0 0,-1 0 0,1 0 0,-1 0 0,0 0 0,1 0 0,-1 0 0,0 0 0,0 0 0,0 0 0,0 0 0,0 1 0,0-1 0,0 0 0,0 1 0,0-1 0,0 1 0,0-1 0,0 1 0,0-1 0,0 1 0,0 0 0,-1-1 0,1 1 0,-2 0 0,2 1 0,-1-1 0,1 1 0,-1-1 0,1 1 0,-1 0 0,1 0 0,-1 0 0,1 0 0,0 0 0,0 0 0,0 0 0,-1 0 0,1 0 0,0 1 0,0-1 0,0 0 0,1 1 0,-1-1 0,0 1 0,0-1 0,1 1 0,-1 1 0,-4 9 0,3-9 0,1 0 0,-1 0 0,1 0 0,0 0 0,0 0 0,0 0 0,0 0 0,1 0 0,-1 0 0,1 1 0,0-1 0,0 0 0,0 5 0,1-8 0,-1 0 0,0 0 0,1 0 0,-1 0 0,0 1 0,1-1 0,-1 0 0,1 0 0,-1 0 0,0-1 0,1 1 0,-1 0 0,1 0 0,-1 0 0,0 0 0,1 0 0,-1 0 0,0 0 0,1-1 0,-1 1 0,0 0 0,1 0 0,-1-1 0,0 1 0,1 0 0,-1 0 0,0-1 0,0 1 0,1 0 0,-1-1 0,0 1 0,0 0 0,0-1 0,1 1 0,-1 0 0,0-1 0,0 1 0,0-1 0,0 1 0,0-1 0,10-17 0,-2-10 0,-7 22 0,1 0 0,-1 1 0,1-1 0,0 0 0,0 1 0,1-1 0,0 1 0,0 0 0,0 0 0,7-8 0,-9 13 0,-1-1 0,0 1 0,1 0 0,-1 0 0,1 0 0,-1 0 0,0 0 0,1 0 0,-1 0 0,1 0 0,-1 0 0,0 0 0,1 0 0,-1 0 0,1 0 0,-1 0 0,0 1 0,1-1 0,-1 0 0,0 0 0,1 0 0,-1 1 0,1-1 0,-1 0 0,0 0 0,0 1 0,1-1 0,-1 0 0,0 0 0,1 1 0,-1-1 0,0 0 0,0 1 0,0-1 0,1 1 0,10 18 0,-6-10 0,-4-8 0,-1 0 0,1-1 0,-1 1 0,1 0 0,-1 0 0,1 0 0,0-1 0,-1 1 0,1 0 0,0-1 0,-1 1 0,1 0 0,0-1 0,0 1 0,0-1 0,0 0 0,-1 1 0,1-1 0,0 0 0,0 1 0,0-1 0,0 0 0,0 0 0,0 0 0,0 0 0,0 0 0,0 0 0,0 0 0,0 0 0,0 0 0,0 0 0,0 0 0,0-1 0,0 1 0,0 0 0,-1-1 0,1 1 0,0-1 0,0 1 0,0-1 0,0 1 0,-1-1 0,1 0 0,1 0 0,-1-1 0,0 1 0,-1-1 0,1 1 0,0-1 0,0 1 0,-1-1 0,1 1 0,-1-1 0,0 0 0,1 1 0,-1-1 0,0 0 0,0 1 0,0-1 0,0 0 0,0 1 0,0-1 0,0 0 0,-1 1 0,1-1 0,-1 0 0,1 1 0,-1-1 0,0 1 0,-1-3 0,-1 0 0,0 1 0,-1 0 0,1 0 0,-1 0 0,1 0 0,-1 1 0,0-1 0,0 1 0,-1 0 0,1 0 0,0 0 0,0 1 0,-1 0 0,1 0 0,-9-1 0,6 0 0,0 1 0,0 1 0,0-1 0,0 1 0,0 1 0,0-1 0,0 1 0,0 0 0,-13 4 0,18-3 0,-1 0 0,1-1 0,-1 1 0,1 0 0,0 0 0,0 0 0,0 1 0,0-1 0,0 0 0,0 1 0,0 0 0,1-1 0,0 1 0,-1 0 0,1-1 0,0 1 0,0 0 0,0 4 0,-10 57 0,11-59 0,-1 8 0,-3 47 0,4-56 0,0-1 0,0 0 0,0 0 0,1 0 0,-1 0 0,1 0 0,0 0 0,0 1 0,0-2 0,0 1 0,0 0 0,1 0 0,0 0 0,3 4 0,-5-7 0,0 1 0,0-1 0,1 0 0,-1 1 0,1-1 0,-1 0 0,0 1 0,1-1 0,-1 0 0,1 1 0,-1-1 0,0 0 0,1 0 0,-1 0 0,1 0 0,-1 1 0,1-1 0,-1 0 0,1 0 0,-1 0 0,1 0 0,-1 0 0,1 0 0,-1 0 0,1 0 0,-1 0 0,1-1 0,-1 1 0,1 0 0,0 0 0,8-15 0,-2-20 0,-5-46 0,0 93 0,1 1 0,0-1 0,1 0 0,0 0 0,1 0 0,1-1 0,0 0 0,14 20 0,-20-30 0,0-1 0,0 1 0,1 0 0,-1-1 0,0 1 0,0-1 0,1 1 0,-1-1 0,0 0 0,1 1 0,-1-1 0,0 1 0,1-1 0,-1 0 0,1 1 0,-1-1 0,1 0 0,-1 1 0,1-1 0,-1 0 0,1 0 0,-1 1 0,1-1 0,-1 0 0,1 0 0,-1 0 0,1 0 0,0 0 0,-1 0 0,1 0 0,-1 0 0,1 0 0,-1 0 0,1 0 0,-1 0 0,1 0 0,0-1 0,0 0 0,0 0 0,0-1 0,0 1 0,0-1 0,0 1 0,0-1 0,-1 1 0,1-1 0,0 0 0,-1 1 0,0-1 0,1-2 0,4-51 0,-7-67 0,4 157 0,9 53 0,-7-60 0,0-8 0,-3-42 0,-2-34 0,2-62 0,3 102 0,2 25 0,3 25 0,12 72 0,-21-134 0,5-46 0,0 93 0,-1 0 0,0 0 0,-2 1 0,0-1 0,-1 35 0,-1-40 0,-1-154 0,2 158 0,-1-11 0,1-1 0,-1 1 0,-1-1 0,1 1 0,-1-1 0,-3 10 0,4-16 0,0 1 0,0-1 0,0 0 0,0 0 0,0 0 0,0 1 0,0-1 0,0 0 0,0 0 0,0 0 0,0 1 0,0-1 0,0 0 0,0 0 0,0 0 0,-1 0 0,1 1 0,0-1 0,0 0 0,0 0 0,0 0 0,0 0 0,-1 0 0,1 1 0,0-1 0,0 0 0,0 0 0,-1 0 0,1 0 0,0 0 0,0 0 0,0 0 0,-1 0 0,1 0 0,0 0 0,0 0 0,0 0 0,-1 0 0,1 0 0,0 0 0,0 0 0,0 0 0,-1 0 0,1 0 0,-7-10 0,-3-16 0,-39-162 0,42 173 0,1 15 0,-7 22 0,12-21 0,0-5 0,3-11 0,-2 14 0,0 1 0,0-1 0,0 1 0,0-1 0,0 1 0,0-1 0,0 1 0,0-1 0,0 1 0,1-1 0,-1 1 0,0-1 0,0 1 0,0-1 0,1 1 0,-1-1 0,0 1 0,1-1 0,-1 1 0,0 0 0,1-1 0,-1 1 0,0 0 0,1-1 0,-1 1 0,1 0 0,-1-1 0,1 1 0,-1 0 0,0 0 0,1 0 0,-1-1 0,1 1 0,-1 0 0,1 0 0,-1 0 0,1 0 0,-1 0 0,1 0 0,-1 0 0,1 0 0,0 0 0,-1 0 0,1 0 0,-1 0 0,1 0 0,-1 1 0,1-1 0,-1 0 0,0 0 0,1 1 0,-1-1 0,1 0 0,-1 0 0,1 1 0,-1-1 0,0 0 0,1 1 0,4 5 0,0 1 0,-1-1 0,1 0 0,-1 1 0,-1 0 0,0 0 0,0 0 0,0 1 0,2 8 0,-3-7 0,2 0 0,-1 0 0,1-1 0,0 1 0,8 10 0,-11-18 0,-1 0 0,1 0 0,0 0 0,0 0 0,0 0 0,1 0 0,-1-1 0,0 1 0,0 0 0,0-1 0,1 1 0,-1-1 0,0 1 0,2 0 0,-2-1 0,0 0 0,0 0 0,0 0 0,-1 1 0,1-1 0,0 0 0,0 1 0,0-1 0,-1 1 0,1-1 0,0 1 0,-1-1 0,1 1 0,0-1 0,-1 1 0,1 0 0,-1-1 0,1 1 0,-1 0 0,1 0 0,-1-1 0,1 1 0,-1 0 0,0 0 0,1 0 0,-1-1 0,0 1 0,0 0 0,0 0 0,0 0 0,1 0 0,-1 0 0,0 0 0,-1 1 0,1 11 0,-1-1 0,0 1 0,-1 0 0,-5 21 0,-3 11 0,6-14 0,2-14 0,0 1 0,-1-1 0,-1 0 0,-7 18 0,11-34 0,0 0 0,-1 0 0,1 0 0,0 0 0,-1 0 0,1 0 0,-1 0 0,1 0 0,-1 0 0,1 0 0,-1-1 0,0 1 0,1 0 0,-1 0 0,0-1 0,1 1 0,-1-1 0,0 1 0,0 0 0,0-1 0,0 1 0,0-1 0,0 0 0,0 1 0,-1-1 0,1 0 0,0-1 0,0 1 0,0-1 0,0 1 0,0-1 0,0 1 0,1-1 0,-1 0 0,0 1 0,0-1 0,0 0 0,1 0 0,-1 0 0,0 0 0,1 0 0,-1 0 0,1 0 0,-1-1 0,-5-12 0,1 1 0,-6-23 0,9 27 0,-6-27 0,1 1 0,2-1 0,1 0 0,2-1 0,3-42 0,0 201 0,-2-147 0,-10-49 0,2 13 0,10 59 0,2 6 0,11 8 0,-13-12 0,0 0 0,-1 0 0,1 0 0,-1 0 0,1 0 0,-1 0 0,1 0 0,0 0 0,-1 0 0,1 0 0,-1 0 0,1 0 0,-1 0 0,1 0 0,-1-1 0,1 1 0,-1 0 0,1 0 0,-1-1 0,1 1 0,-1 0 0,1-1 0,-1 1 0,1-1 0,-1 1 0,0 0 0,1-1 0,-1 1 0,0-1 0,1 1 0,-1-1 0,0 1 0,0-1 0,1 1 0,-1-1 0,0-1 0,25-69 0,-21 122 0,-5-31 0,0-15 0,0 1 0,1-1 0,0 0 0,0 1 0,0-1 0,0 0 0,1 1 0,0-1 0,0 0 0,1 1 0,-1-1 0,3 6 0,-3-11 0,-1 0 0,1 0 0,-1 0 0,1 0 0,-1 1 0,1-1 0,0 0 0,-1 0 0,1 0 0,-1 0 0,1-1 0,-1 1 0,1 0 0,-1 0 0,1 0 0,-1 0 0,1 0 0,-1-1 0,0 1 0,1 0 0,-1 0 0,1-1 0,-1 1 0,1 0 0,-1-1 0,0 1 0,1 0 0,-1-1 0,0 1 0,1-1 0,-1 1 0,0-1 0,0 1 0,1 0 0,-1-2 0,13-17 0,-13 19 0,6-12 0,-1 0 0,0 0 0,0-1 0,2-14 0,14-36 0,-21 63 0,0-1 0,0 1 0,0 0 0,0-1 0,0 1 0,0-1 0,1 1 0,-1-1 0,0 1 0,0-1 0,0 1 0,1-1 0,-1 1 0,0 0 0,1-1 0,-1 1 0,0 0 0,1-1 0,-1 1 0,0 0 0,1-1 0,-1 1 0,1 0 0,-1 0 0,1-1 0,-1 1 0,0 0 0,1 0 0,-1 0 0,1 0 0,-1 0 0,1 0 0,-1 0 0,2 0 0,4 16 0,-3 27 0,-4 91 0,1-134 0,0 0 0,0 0 0,0 0 0,0 0 0,0 0 0,0 0 0,0 0 0,0 0 0,0 0 0,-1 0 0,1 0 0,0 0 0,0 0 0,0 0 0,0 0 0,0 0 0,0 0 0,0 0 0,0 0 0,0 0 0,0 0 0,0 0 0,0 0 0,0 0 0,-1 0 0,1 0 0,0 0 0,0 0 0,0 1 0,0-1 0,0 0 0,0 0 0,0 0 0,0 0 0,0 0 0,0 0 0,0 0 0,0 0 0,0 0 0,0 0 0,0 0 0,0 1 0,0-1 0,0 0 0,0 0 0,0 0 0,0 0 0,0 0 0,0 0 0,0 0 0,0 0 0,0 0 0,0 0 0,-5-12 0,-9-33 0,4 13 0,2 4 0,7 22 0,-1-1 0,1 1 0,-1 0 0,0 0 0,-1 0 0,0 0 0,1 0 0,-2 0 0,1 1 0,-1-1 0,-4-4 0,7 9 0,0 1 0,0-1 0,1 1 0,-1 0 0,0-1 0,0 1 0,0 0 0,0 0 0,1-1 0,-1 1 0,0 0 0,0 0 0,0 0 0,0 0 0,0 0 0,0 0 0,1 1 0,-1-1 0,0 0 0,0 0 0,0 1 0,0-1 0,1 0 0,-1 1 0,0-1 0,0 1 0,1-1 0,-1 1 0,0-1 0,1 1 0,-1-1 0,0 1 0,1 0 0,-1-1 0,1 1 0,-1 0 0,1 0 0,0-1 0,-1 1 0,0 1 0,-14 34 0,5 12 0,2-1 0,2 1 0,1 75 0,6-187 0,-1 64 0,0 0 0,0-1 0,0 1 0,0 0 0,1 0 0,-1 0 0,0 0 0,0 0 0,0 0 0,0-1 0,0 1 0,0 0 0,0 0 0,0 0 0,0 0 0,0 0 0,0-1 0,0 1 0,-1 0 0,1 0 0,0 0 0,0 0 0,0 0 0,0-1 0,0 1 0,0 0 0,0 0 0,0 0 0,0 0 0,0 0 0,0 0 0,-1 0 0,1 0 0,0-1 0,0 1 0,0 0 0,0 0 0,0 0 0,0 0 0,-1 0 0,1 0 0,0 0 0,0 0 0,0 0 0,0 0 0,0 0 0,-1 0 0,1 0 0,0 0 0,0 0 0,0 0 0,0 0 0,0 0 0,-1 0 0,1 0 0,0 0 0,0 0 0,0 0 0,0 0 0,-11 10 0,-6 17 0,14-20 0,1 0 0,0 0 0,1 0 0,-1 0 0,1 1 0,1-1 0,-1 0 0,1 1 0,2 8 0,-2-14 0,0 0 0,0 0 0,1 0 0,-1 0 0,1 0 0,-1 0 0,1-1 0,0 1 0,0 0 0,0 0 0,0-1 0,0 1 0,0-1 0,0 1 0,0-1 0,0 1 0,1-1 0,-1 0 0,1 1 0,-1-1 0,1 0 0,0 0 0,-1 0 0,1 0 0,0-1 0,0 1 0,-1 0 0,1-1 0,0 1 0,0-1 0,0 0 0,0 1 0,0-1 0,0 0 0,-1 0 0,1 0 0,0-1 0,0 1 0,3-1 0,3-1 0,-1 0 0,0-1 0,0 1 0,0-1 0,0-1 0,0 0 0,11-8 0,-16 11 0,-1 0 0,1 0 0,-1 0 0,0-1 0,0 1 0,1 0 0,-1-1 0,0 1 0,0-1 0,0 1 0,-1-1 0,1 0 0,0 1 0,-1-1 0,1 0 0,0-2 0,-1 3 0,0-1 0,-1 1 0,1 0 0,0-1 0,-1 1 0,1-1 0,-1 1 0,0 0 0,1 0 0,-1-1 0,0 1 0,0 0 0,0 0 0,1 0 0,-1 0 0,-1 0 0,1 0 0,0 0 0,0 0 0,0 0 0,0 0 0,-1 1 0,-1-2 0,-5-2 0,0 0 0,-1 1 0,1 0 0,0 1 0,-1 0 0,0 0 0,1 1 0,-14-1 0,-75 4 0,62 0 0,94-1 0,-96 7 0,0 1 0,-68 28 0,98-33 0,9-1 0,18 0 0,30-3 0,-44-1 0,-1 1 0,1-1 0,-1 0 0,1 0 0,-1-1 0,0 0 0,0 0 0,1 0 0,-2 0 0,10-7 0,-11 7 0,-1 0 0,0-1 0,1 1 0,-1-1 0,0 0 0,0 0 0,-1 1 0,1-1 0,-1-1 0,1 1 0,-1 0 0,0 0 0,0 0 0,0-1 0,-1 1 0,1 0 0,-1-1 0,0-4 0,1 4 0,-1 1 0,0-1 0,0 1 0,0-1 0,-1 1 0,1 0 0,-1-1 0,0 1 0,0-1 0,0 1 0,0 0 0,0 0 0,-1-1 0,0 1 0,0 0 0,1 1 0,-2-1 0,1 0 0,0 0 0,0 1 0,-4-3 0,2 2 0,-1 1 0,1 0 0,0 0 0,-1 0 0,1 0 0,-1 1 0,1 0 0,-1 0 0,0 0 0,0 0 0,0 1 0,1 0 0,-1 0 0,-9 1 0,12-1 0,0 0 0,1 1 0,-1-1 0,0 0 0,1 0 0,-1 1 0,0-1 0,1 1 0,-1 0 0,1-1 0,-1 1 0,1 0 0,-1 0 0,1 0 0,-1 0 0,1 0 0,0 0 0,0 0 0,0 0 0,-1 1 0,1-1 0,0 0 0,1 1 0,-1-1 0,0 1 0,0-1 0,1 1 0,-1 0 0,0-1 0,1 1 0,0-1 0,-1 4 0,1-3 0,0 0 0,0 0 0,1 0 0,-1 0 0,1 0 0,-1 0 0,1 0 0,0 0 0,0 0 0,0 0 0,0 0 0,0 0 0,0-1 0,1 1 0,-1 0 0,0-1 0,1 1 0,-1-1 0,1 0 0,0 1 0,-1-1 0,1 0 0,0 0 0,0 0 0,0 0 0,2 1 0,7 1 0,0 0 0,1-1 0,-1 0 0,1 0 0,-1-1 0,15-1 0,71-6 0,-93 5 0,1 1 0,-1-1 0,0 0 0,0 0 0,0 0 0,0-1 0,0 1 0,0-1 0,0 0 0,0 0 0,0 0 0,-1-1 0,1 1 0,5-6 0,-9 7 0,1 0 0,0 0 0,0 0 0,0 0 0,-1 0 0,1 0 0,-1-1 0,1 1 0,-1 0 0,1 0 0,-1-1 0,0 1 0,1 0 0,-1 0 0,0-1 0,0 1 0,0 0 0,0-1 0,0 0 0,-1 0 0,1 0 0,-1 0 0,0 0 0,0 0 0,0 1 0,0-1 0,0 0 0,0 1 0,-1-1 0,1 1 0,-1-1 0,1 1 0,-1 0 0,1-1 0,-1 1 0,-2-1 0,-1-1 0,0 0 0,0 0 0,0 1 0,0-1 0,-1 1 0,1 1 0,-1-1 0,0 1 0,0 0 0,1 0 0,-1 1 0,0-1 0,0 1 0,-11 2 0,15-2 0,0 1 0,0-1 0,0 1 0,0 0 0,0 0 0,0 0 0,0 0 0,0 0 0,0 0 0,0 0 0,0 1 0,1-1 0,-1 1 0,1-1 0,-1 1 0,1-1 0,-2 3 0,2-1 0,0 0 0,0-1 0,0 1 0,0 0 0,0 0 0,1 0 0,0 0 0,-1 0 0,1 0 0,0 0 0,0 0 0,0 0 0,1 0 0,-1-1 0,3 7 0,-3-5-59,2 0 0,-1 0-1,0-1 1,1 1-1,0 0 1,0-1 0,0 1-1,0-1 1,1 0 0,-1 1-1,1-1 1,0 0 0,-1-1-1,2 1 1,-1 0-1,0-1 1,0 0 0,1 0-1,-1 0 1,1 0 0,0 0-1,6 1 1,6 1-6767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51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PERSONAL ASSISTANT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PERSONAL ASSISTANT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SINGH(Er No. 221B024)     · ADITYA SACHAN (Er No. 221B029)     · LAXMIKANT SHUKLA (Er No.221B220)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of:</a:t>
            </a:r>
          </a:p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KB MEENA (KBM 2)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0" y="4732020"/>
            <a:ext cx="22860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0" y="4732020"/>
            <a:ext cx="68580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86000" y="47320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E8E230-32FA-0858-02CE-6418A5A9C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617" y="3294411"/>
            <a:ext cx="1375601" cy="1375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22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7223760" cy="25603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1481328"/>
          </a:xfrm>
          <a:prstGeom prst="rect">
            <a:avLst/>
          </a:prstGeom>
          <a:solidFill>
            <a:srgbClr val="FFF3EE"/>
          </a:solidFill>
          <a:ln w="19050">
            <a:solidFill>
              <a:srgbClr val="E8C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58952"/>
            <a:ext cx="73152" cy="1481328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8046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813816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voice assistants use generic, robotic voices with no personalization. There is no accessible platform that combines voice cloning with an intelligent LLM backend deployable on consumer hardware without a GPU — forcing companies to choose between quality and cost.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Important?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798064"/>
            <a:ext cx="2724912" cy="168249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798064"/>
            <a:ext cx="2724912" cy="36576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7980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" y="3200400"/>
            <a:ext cx="2505456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customers report frustration with robotic AI voices. Human-sounding speech increases trust and satisfaction in automated support.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82112" y="2798064"/>
            <a:ext cx="2724912" cy="168249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82112" y="2798064"/>
            <a:ext cx="272491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3552" y="27980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3200400"/>
            <a:ext cx="2505456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GPU-heavy models (XTTS v2, RVC) are impractical on standard servers. A CPU-only pitch-matching approach makes voice personalization affordable and accessible.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53328" y="2798064"/>
            <a:ext cx="2724912" cy="168249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3328" y="2798064"/>
            <a:ext cx="2724912" cy="36576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44768" y="27980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Gap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63056" y="3200400"/>
            <a:ext cx="2505456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open-source tool integrates cloud LLM intelligence + CPU voice cloning in one monorepo deployable on consumer hardware without a GPU.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4732020"/>
            <a:ext cx="84582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3D7A85D-89F7-9018-1495-D31568DE4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077" y="-38577"/>
            <a:ext cx="660369" cy="660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22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7223760" cy="25603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33088" cy="3639312"/>
          </a:xfrm>
          <a:prstGeom prst="rect">
            <a:avLst/>
          </a:prstGeom>
          <a:solidFill>
            <a:srgbClr val="F5F7FA"/>
          </a:solidFill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133088" cy="402336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voice cloning platform that bridges three runtimes (Node.js, Python Flask, Google Gemini) into one seamless experience.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a voice sample (6–20 sec)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 generates an intelligent answer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Edge TTS synthesizes speech, pitch-shifted to match your voice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Audio returned to browser for playback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automation — a company records one agent's voice; the AI answers queries in that natural human voice.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99432" y="749808"/>
            <a:ext cx="4224528" cy="3639312"/>
          </a:xfrm>
          <a:prstGeom prst="rect">
            <a:avLst/>
          </a:prstGeom>
          <a:solidFill>
            <a:srgbClr val="EEF4FB"/>
          </a:solidFill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99432" y="749808"/>
            <a:ext cx="4224528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7498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36592" y="1261872"/>
            <a:ext cx="420624" cy="347472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126187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0368" y="1261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voice profile CRUD with file upload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36592" y="1764792"/>
            <a:ext cx="420624" cy="347472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176479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Google Gemini 2.5 Flash as the primary LLM with 3-model fallback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36592" y="2267712"/>
            <a:ext cx="420624" cy="347472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36592" y="226771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0368" y="2267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CPU-based voice cloning via Edge TTS + autocorrelation pitch matching + ffmpeg pitch shift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2770632"/>
            <a:ext cx="420624" cy="347472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36592" y="277063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27706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REST API with 3-level fallback chain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36592" y="3273552"/>
            <a:ext cx="420624" cy="347472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327355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0368" y="3273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React/Next.js frontend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36592" y="3776472"/>
            <a:ext cx="420624" cy="347472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377647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0368" y="37764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monorepo architecture (npm workspaces)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" y="4732020"/>
            <a:ext cx="84582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DDA23DC-EEA9-AB81-47B2-F6214C879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733" y="-64723"/>
            <a:ext cx="847821" cy="847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22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Literature Review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7223760" cy="25603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184584"/>
              </p:ext>
            </p:extLst>
          </p:nvPr>
        </p:nvGraphicFramePr>
        <p:xfrm>
          <a:off x="320040" y="749808"/>
          <a:ext cx="8503920" cy="38404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/ Gaps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XTTS v2 — Coqui AI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TTS &amp; voice cloning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Clones any voice from 6–20 s of audio; supports 17 languages; open-source &amp; 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Python 3.11; large model (1.8 GB); first-load latency 30–60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+ LLaMA 3 — Meta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LLM inference engine (prototype only — production uses Google Gemini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8B-param model on CPU; fully private; no API key; offline capable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takes 30–90 s on CPU; not real-time; requires 8+ GB 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ElevenLabs / Resemble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voice cloning APIs (active — used for persona voices)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High-quality output; fast inference (&lt;1 s); easy REST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service ($0.30/1K chars); sensitive data leaves system; rate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/ Claude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LLM for customer support (primary in production)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accuracy; context-aware; production-ready; sub-second responses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API key; usage costs; no voice output; privacy concerns for support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4732020"/>
            <a:ext cx="84582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8E4CDB-2A12-2409-9760-76D03B278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777" y="-100823"/>
            <a:ext cx="896589" cy="8965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22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Work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7223760" cy="25603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06963"/>
              </p:ext>
            </p:extLst>
          </p:nvPr>
        </p:nvGraphicFramePr>
        <p:xfrm>
          <a:off x="320040" y="749808"/>
          <a:ext cx="8503920" cy="385876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setup: environment config, monorepo (npm workspaces), TypeScript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API: Express.js routes, Zod validation, error handling middleware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Flask voice server: F0 estimation via autocorrelation, Edge TTS integration, pitch shifting via ffmpeg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integration: Google Gemini 2.5 Flash with 3-model fallback chain, persona system prompts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frontend: voice recorder, chat UI, audio playback, API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6-8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integration testing &amp; cross-service debugging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store optimisation, end-to-end testing, deployment pipeline &amp; project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608576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Weekly progress must align with reports submitted to the supervisor.</a:t>
            </a:r>
            <a:endParaRPr lang="en-US" sz="950" dirty="0"/>
          </a:p>
        </p:txBody>
      </p:sp>
      <p:sp>
        <p:nvSpPr>
          <p:cNvPr id="4" name="Shape 3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4732020"/>
            <a:ext cx="84582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BDBBF-49BD-89E7-713E-0164A45B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277" y="-92441"/>
            <a:ext cx="888683" cy="8886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22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Individual Contribution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7223760" cy="25603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903392"/>
              </p:ext>
            </p:extLst>
          </p:nvPr>
        </p:nvGraphicFramePr>
        <p:xfrm>
          <a:off x="502920" y="730440"/>
          <a:ext cx="8138160" cy="3466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Member Name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Enrollment No.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Contribution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840">
                <a:tc>
                  <a:txBody>
                    <a:bodyPr/>
                    <a:lstStyle/>
                    <a:p>
                      <a:pPr marL="11430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</a:rPr>
                        <a:t>ADARSH SINGH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dirty="0">
                          <a:solidFill>
                            <a:srgbClr val="3A5070"/>
                          </a:solidFill>
                          <a:latin typeface="Courier New" pitchFamily="49" charset="0"/>
                        </a:rPr>
                        <a:t>221B024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l">
                        <a:buChar char="▸"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</a:rPr>
                        <a:t>Backend API development (Express.js), Gemini API integration, Zod validation, fallback chain design, and error handling middleware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840">
                <a:tc>
                  <a:txBody>
                    <a:bodyPr/>
                    <a:lstStyle/>
                    <a:p>
                      <a:pPr marL="11430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</a:rPr>
                        <a:t>ADITYA SACHAN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dirty="0">
                          <a:solidFill>
                            <a:srgbClr val="3A5070"/>
                          </a:solidFill>
                          <a:latin typeface="Courier New" pitchFamily="49" charset="0"/>
                        </a:rPr>
                        <a:t>221B029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l">
                        <a:buChar char="▸"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</a:rPr>
                        <a:t>Python Flask voice server, autocorrelation-based F0 pitch estimation, Edge TTS integration, ffmpeg pitch shifting pipeline, and audio synthesis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840">
                <a:tc>
                  <a:txBody>
                    <a:bodyPr/>
                    <a:lstStyle/>
                    <a:p>
                      <a:pPr marL="11430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</a:rPr>
                        <a:t>LAXMIKANT SHUKLA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dirty="0">
                          <a:solidFill>
                            <a:srgbClr val="3A5070"/>
                          </a:solidFill>
                          <a:latin typeface="Courier New" pitchFamily="49" charset="0"/>
                        </a:rPr>
                        <a:t>221B220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l">
                        <a:buChar char="▸"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</a:rPr>
                        <a:t>Next.js / React frontend, Web Audio API microphone recording, chat UI, audio playback, and REST API client abstraction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4732020"/>
            <a:ext cx="84582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dirty="0"/>
          </a:p>
        </p:txBody>
      </p:sp>
      <p:sp>
        <p:nvSpPr>
          <p:cNvPr id="4" name="Text 4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23A61-97B8-BA93-DB4D-E4F233B07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871" y="-124445"/>
            <a:ext cx="1026129" cy="10261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22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Work Done: System Architecture &amp; Data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39" y="621792"/>
            <a:ext cx="8268287" cy="45719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28600" y="4281221"/>
            <a:ext cx="8595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37744" y="4241902"/>
            <a:ext cx="54864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28600" y="4114799"/>
            <a:ext cx="8595360" cy="689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User speaks → Next.js (:3000) → Express API (:4000) → Google Gemini generates text → Python Flask (:5000): F0 estimate + Edge TTS + ffmpeg pitch shift → MP3 → Browser plays audio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85800" y="4732020"/>
            <a:ext cx="84582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C340C-1CC7-233A-6E16-A2D4B6D98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986" y="-148819"/>
            <a:ext cx="931947" cy="9319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5DCBE1-CEC1-0157-EC84-92F869483F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74"/>
          <a:stretch>
            <a:fillRect/>
          </a:stretch>
        </p:blipFill>
        <p:spPr>
          <a:xfrm>
            <a:off x="320039" y="893602"/>
            <a:ext cx="8331591" cy="3276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22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REST API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7223760" cy="25603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3749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06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960120" cy="384048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44752" y="123444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 · Express.js · TypeScript · Zod · Multer · uuid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960120" cy="384048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7647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44752" y="176479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TypeScript · Web Audio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295144"/>
            <a:ext cx="960120" cy="384048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29514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44752" y="2295144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(primary) · Azure OpenAI (fallback) · Ollama (prototype only)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25496"/>
            <a:ext cx="960120" cy="384048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254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44752" y="2825496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TTS (Microsoft) · Flask 3.1 · Python 3.11 · ffmpeg · numpy/scipy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355848"/>
            <a:ext cx="960120" cy="384048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355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44752" y="335584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 · Prisma ORM · PostgreSQL (Docker)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960120" cy="384048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886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44752" y="388620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Workspaces · tsx hot-reload (Docker optional)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749808"/>
            <a:ext cx="4160520" cy="3749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749808"/>
            <a:ext cx="41605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7498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REST API Endpoints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800600" y="1234440"/>
            <a:ext cx="685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12344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3212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/voice-profiles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voice profiles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1705356"/>
            <a:ext cx="685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170535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32120" y="17053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/voice-profiles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17053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voice profile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2176272"/>
            <a:ext cx="685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21762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32120" y="21762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/:id/samples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21762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voice audio sample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2647188"/>
            <a:ext cx="68580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26471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26471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/:id/submit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26471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voice profile (F0 analysis + Edge TTS match)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3118104"/>
            <a:ext cx="685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00600" y="31181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32120" y="31181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/conversations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32320" y="31181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conversation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00600" y="3589020"/>
            <a:ext cx="685800" cy="347472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00600" y="35890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532120" y="35890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/:id/ask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32320" y="35890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→ AI voice response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4114800"/>
            <a:ext cx="416052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54880" y="41148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POST /api/analyze { speaker_wav } → { profile_id, f0_hz, voice_id } | Python: POST /api/tts-clone { text, profile_id } → MP3 audio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85800" y="4732020"/>
            <a:ext cx="84582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E2B0661-DE73-F433-0D58-30DAD3E80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482" y="-93726"/>
            <a:ext cx="936518" cy="936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4732020"/>
            <a:ext cx="8458200" cy="41148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Engineering &amp; Technology, Guna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47320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743200" cy="341071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2743200" cy="393192"/>
          </a:xfrm>
          <a:prstGeom prst="rect">
            <a:avLst/>
          </a:prstGeom>
          <a:solidFill>
            <a:srgbClr val="C8693C"/>
          </a:solidFill>
          <a:ln w="12700">
            <a:solidFill>
              <a:srgbClr val="C86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005840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444752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Prisma ORM — persistent DB, multi-user support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XTTS v2 (Coqui) on GPU — true neural cloning, sub-1s TTS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Redis/Bull queue — async TTS for concurrent users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multi-user management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(Cloudflare R2 / S3) — global audio delivery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— XTTS v2 (17 langs) + Gemini multilingual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CI/CD — one-command cloud deployment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743200" cy="3410712"/>
          </a:xfrm>
          <a:prstGeom prst="rect">
            <a:avLst/>
          </a:prstGeom>
          <a:solidFill>
            <a:srgbClr val="EEF4FB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3931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37560" y="1005840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37560" y="1444752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delivered a full-stack AI voice assistant with persona switching:</a:t>
            </a:r>
            <a:endParaRPr lang="en-US" sz="9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2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3-tier: Next.js → Express API → Python Flask</a:t>
            </a:r>
            <a:endParaRPr lang="en-US" sz="92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TTS + ffmpeg pitch clone — CPU-only, ±5 semitone</a:t>
            </a:r>
            <a:endParaRPr lang="en-US" sz="92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— 4-level AI fallback chain</a:t>
            </a:r>
            <a:endParaRPr lang="en-US" sz="92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 response time, no GPU required</a:t>
            </a:r>
            <a:endParaRPr lang="en-US" sz="92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Edge TTS voices + 8 ElevenLabs personas</a:t>
            </a:r>
            <a:endParaRPr lang="en-US" sz="9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2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Achieved:</a:t>
            </a:r>
            <a:endParaRPr lang="en-US" sz="9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personalisation at zero GPU cost — autocorrelation + Edge TTS + Gemini, 4–6 s on standard hardware.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6126480" y="1005840"/>
            <a:ext cx="2743200" cy="3410712"/>
          </a:xfrm>
          <a:prstGeom prst="rect">
            <a:avLst/>
          </a:prstGeom>
          <a:solidFill>
            <a:srgbClr val="FFF8E1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26480" y="1005840"/>
            <a:ext cx="2743200" cy="393192"/>
          </a:xfrm>
          <a:prstGeom prst="rect">
            <a:avLst/>
          </a:prstGeom>
          <a:solidFill>
            <a:srgbClr val="9E6A00"/>
          </a:solidFill>
          <a:ln w="12700">
            <a:solidFill>
              <a:srgbClr val="9E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63640" y="1005840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(IEEE)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63640" y="1444752"/>
            <a:ext cx="2468880" cy="3445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Casanova et al., 'XTTS: A Massively Multilingual Zero-Shot TTS,' arXiv:2406.04904, Jun. 2024.
</a:t>
            </a:r>
            <a:r>
              <a:rPr lang="en-US" sz="92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Research, 'LLaMA 3: Open Foundation Models,' Meta AI Technical Report, Apr. 2024.
</a:t>
            </a:r>
            <a:r>
              <a:rPr lang="en-US" sz="92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9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Achiam et al., 'GPT-4 Technical Report,' OpenAI, arXiv:2303.08774, 2023.
</a:t>
            </a:r>
            <a:r>
              <a:rPr lang="en-US" sz="92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920" dirty="0">
                <a:solidFill>
                  <a:srgbClr val="1A1A1A"/>
                </a:solidFill>
                <a:latin typeface="Calibri" pitchFamily="34" charset="0"/>
              </a:rPr>
              <a:t>J. Shen et al., ‘Tacotron 2: Natural TTS via WaveNet,’ ICASSP, 2018.
</a:t>
            </a:r>
            <a:r>
              <a:rPr lang="en-US" sz="920" b="1" dirty="0">
                <a:solidFill>
                  <a:srgbClr val="1E3A5F"/>
                </a:solidFill>
                <a:latin typeface="Calibri" pitchFamily="34" charset="0"/>
              </a:rPr>
              <a:t>[6] </a:t>
            </a:r>
            <a:r>
              <a:rPr lang="en-US" sz="920" dirty="0">
                <a:solidFill>
                  <a:srgbClr val="1A1A1A"/>
                </a:solidFill>
                <a:latin typeface="Calibri" pitchFamily="34" charset="0"/>
              </a:rPr>
              <a:t>E. Casanova et al., ‘XTTS v2: Multilingual Zero-Shot TTS,’ github.com/coqui-ai/TTS
</a:t>
            </a:r>
            <a:r>
              <a:rPr lang="en-US" sz="920" b="1" dirty="0">
                <a:solidFill>
                  <a:srgbClr val="1E3A5F"/>
                </a:solidFill>
                <a:latin typeface="Calibri" pitchFamily="34" charset="0"/>
              </a:rPr>
              <a:t>[7] </a:t>
            </a:r>
            <a:r>
              <a:rPr lang="en-US" sz="920" dirty="0">
                <a:solidFill>
                  <a:srgbClr val="1A1A1A"/>
                </a:solidFill>
                <a:latin typeface="Calibri" pitchFamily="34" charset="0"/>
              </a:rPr>
              <a:t>Microsoft, ‘Edge TTS — Neural TTS,’ github.com/rany2/edge-tts
</a:t>
            </a:r>
            <a:endParaRPr lang="en-US" sz="92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534A6D-E01D-0808-9567-DD19E0E177E1}"/>
              </a:ext>
            </a:extLst>
          </p:cNvPr>
          <p:cNvSpPr txBox="1"/>
          <p:nvPr/>
        </p:nvSpPr>
        <p:spPr>
          <a:xfrm>
            <a:off x="274320" y="253218"/>
            <a:ext cx="6587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226465A-A89A-1809-160D-FB93B5BA2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677" y="-120873"/>
            <a:ext cx="984981" cy="984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1ECF8E-96DA-3633-264E-B12671C4E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0"/>
            <a:ext cx="9083040" cy="514350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C0FC1E-9413-0DF3-234B-B61B0ACDE881}"/>
                  </a:ext>
                </a:extLst>
              </p14:cNvPr>
              <p14:cNvContentPartPr/>
              <p14:nvPr/>
            </p14:nvContentPartPr>
            <p14:xfrm>
              <a:off x="640140" y="1874280"/>
              <a:ext cx="360" cy="8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C0FC1E-9413-0DF3-234B-B61B0ACDE8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820" y="1869960"/>
                <a:ext cx="90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5024A8-7661-990F-52BC-725EFB501730}"/>
                  </a:ext>
                </a:extLst>
              </p14:cNvPr>
              <p14:cNvContentPartPr/>
              <p14:nvPr/>
            </p14:nvContentPartPr>
            <p14:xfrm>
              <a:off x="581460" y="1621560"/>
              <a:ext cx="150840" cy="174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5024A8-7661-990F-52BC-725EFB5017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7140" y="1617240"/>
                <a:ext cx="159480" cy="1832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EFCAD35-4845-B83A-D83C-F0A95D27A3A7}"/>
              </a:ext>
            </a:extLst>
          </p:cNvPr>
          <p:cNvSpPr/>
          <p:nvPr/>
        </p:nvSpPr>
        <p:spPr>
          <a:xfrm>
            <a:off x="205741" y="1234440"/>
            <a:ext cx="990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10</a:t>
            </a:r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6966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1430</Words>
  <Application>Microsoft Office PowerPoint</Application>
  <PresentationFormat>On-screen Show (16:9)</PresentationFormat>
  <Paragraphs>186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Cloning AI Agent</dc:title>
  <dc:subject>Minor Project – JUET</dc:subject>
  <dc:creator>PptxGenJS</dc:creator>
  <cp:lastModifiedBy>Aditya Sachan</cp:lastModifiedBy>
  <cp:revision>8</cp:revision>
  <dcterms:created xsi:type="dcterms:W3CDTF">2026-04-15T19:42:58Z</dcterms:created>
  <dcterms:modified xsi:type="dcterms:W3CDTF">2026-05-12T05:50:29Z</dcterms:modified>
</cp:coreProperties>
</file>